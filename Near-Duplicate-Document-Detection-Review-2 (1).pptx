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Libre Baskerville" panose="02000000000000000000" pitchFamily="2" charset="0"/>
      <p:regular r:id="rId12"/>
    </p:embeddedFont>
    <p:embeddedFont>
      <p:font typeface="Open Sans" panose="020B0606030504020204" pitchFamily="34" charset="0"/>
      <p:regular r:id="rId13"/>
      <p:bold r:id="rId14"/>
    </p:embeddedFont>
    <p:embeddedFont>
      <p:font typeface="Open Sans Bold" panose="020B0806030504020204" pitchFamily="34" charset="0"/>
      <p:regular r:id="rId15"/>
      <p:bold r:id="rId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302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4F0FF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BFA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267569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Near Duplicate Document Detection Review 2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809131"/>
            <a:ext cx="4722763" cy="10667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An Efficient Algorithmic Engine for Identifying Similar &amp; Modified Text Documents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M. Aravindhar Reddy  ·  Ganapuram Veeravardhan  ·  K. Manikanta Reddy  ·  Irfan Faraj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726728"/>
            <a:ext cx="8151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Problem Statement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585392"/>
            <a:ext cx="2628230" cy="2628230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74988" y="1541785"/>
            <a:ext cx="1631305" cy="27154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3711997" y="1702594"/>
            <a:ext cx="1233488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Massive Data Scale</a:t>
            </a:r>
            <a:endParaRPr lang="en-US" sz="1350" dirty="0"/>
          </a:p>
        </p:txBody>
      </p:sp>
      <p:sp>
        <p:nvSpPr>
          <p:cNvPr id="6" name="Text 2"/>
          <p:cNvSpPr/>
          <p:nvPr/>
        </p:nvSpPr>
        <p:spPr>
          <a:xfrm>
            <a:off x="3711997" y="2287265"/>
            <a:ext cx="123348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Large online collections like Wikipedia or web pages contain millions of documents with heavy repetition.</a:t>
            </a:r>
            <a:endParaRPr lang="en-US" sz="11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48052" y="1541785"/>
            <a:ext cx="1631379" cy="27154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5485061" y="1702594"/>
            <a:ext cx="1233562" cy="6643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Limitations of Basic Search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5485061" y="2508721"/>
            <a:ext cx="1233562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search tools look for exact matches and fail when text is lightly edited, reworded, or contains typos.</a:t>
            </a:r>
            <a:endParaRPr lang="en-US" sz="11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021190" y="1541785"/>
            <a:ext cx="1631379" cy="27154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258199" y="1702594"/>
            <a:ext cx="123356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Performance Bottleneck</a:t>
            </a:r>
            <a:endParaRPr lang="en-US" sz="1350" dirty="0"/>
          </a:p>
        </p:txBody>
      </p:sp>
      <p:sp>
        <p:nvSpPr>
          <p:cNvPr id="12" name="Text 6"/>
          <p:cNvSpPr/>
          <p:nvPr/>
        </p:nvSpPr>
        <p:spPr>
          <a:xfrm>
            <a:off x="7258199" y="2287265"/>
            <a:ext cx="1233562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Comparing every document against every other document line-by-line takes too long to run at scale.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925119" y="791840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Project Objectives</a:t>
            </a:r>
            <a:endParaRPr lang="en-US" sz="2750" dirty="0"/>
          </a:p>
        </p:txBody>
      </p:sp>
      <p:sp>
        <p:nvSpPr>
          <p:cNvPr id="5" name="Shape 2"/>
          <p:cNvSpPr/>
          <p:nvPr/>
        </p:nvSpPr>
        <p:spPr>
          <a:xfrm>
            <a:off x="3925119" y="1447428"/>
            <a:ext cx="2290465" cy="1718742"/>
          </a:xfrm>
          <a:prstGeom prst="roundRect">
            <a:avLst>
              <a:gd name="adj" fmla="val 1237"/>
            </a:avLst>
          </a:prstGeom>
          <a:solidFill>
            <a:srgbClr val="EAE8F3"/>
          </a:solidFill>
          <a:ln/>
        </p:spPr>
      </p:sp>
      <p:sp>
        <p:nvSpPr>
          <p:cNvPr id="6" name="Text 3"/>
          <p:cNvSpPr/>
          <p:nvPr/>
        </p:nvSpPr>
        <p:spPr>
          <a:xfrm>
            <a:off x="4066877" y="1589187"/>
            <a:ext cx="200694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⚡</a:t>
            </a: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Fast Detection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066877" y="1895698"/>
            <a:ext cx="2006947" cy="6804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Build a custom, high-speed system to find, group, and score document similarity.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357342" y="1447428"/>
            <a:ext cx="2290539" cy="1718742"/>
          </a:xfrm>
          <a:prstGeom prst="roundRect">
            <a:avLst>
              <a:gd name="adj" fmla="val 1237"/>
            </a:avLst>
          </a:prstGeom>
          <a:solidFill>
            <a:srgbClr val="EAE8F3"/>
          </a:solidFill>
          <a:ln/>
        </p:spPr>
      </p:sp>
      <p:sp>
        <p:nvSpPr>
          <p:cNvPr id="9" name="Text 6"/>
          <p:cNvSpPr/>
          <p:nvPr/>
        </p:nvSpPr>
        <p:spPr>
          <a:xfrm>
            <a:off x="6499101" y="1589187"/>
            <a:ext cx="2007022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🔧</a:t>
            </a: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Pure Algorithmic Logic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6499101" y="2117154"/>
            <a:ext cx="2007022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custom algorithms from scratch without relying on external third-party libraries.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925119" y="3307928"/>
            <a:ext cx="4722763" cy="1043657"/>
          </a:xfrm>
          <a:prstGeom prst="roundRect">
            <a:avLst>
              <a:gd name="adj" fmla="val 2038"/>
            </a:avLst>
          </a:prstGeom>
          <a:solidFill>
            <a:srgbClr val="EAE8F3"/>
          </a:solidFill>
          <a:ln/>
        </p:spPr>
      </p:sp>
      <p:sp>
        <p:nvSpPr>
          <p:cNvPr id="12" name="Text 9"/>
          <p:cNvSpPr/>
          <p:nvPr/>
        </p:nvSpPr>
        <p:spPr>
          <a:xfrm>
            <a:off x="4066877" y="3449687"/>
            <a:ext cx="443924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📐</a:t>
            </a:r>
            <a:r>
              <a:rPr lang="en-US" sz="135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 Scalable Filtering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4066877" y="3756199"/>
            <a:ext cx="443924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Rapidly isolate potential duplicate candidates while skipping completely unrelated files.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869"/>
            <a:ext cx="8151763" cy="4223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Existing vs. Proposed System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496119" y="1145084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Existing System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496119" y="1484933"/>
            <a:ext cx="3911054" cy="633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Uses word-by-word or character-by-character comparisons across entire datasets, making it </a:t>
            </a:r>
            <a:r>
              <a:rPr lang="en-US" sz="10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extremely slow and unscalable</a:t>
            </a: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96119" y="2263155"/>
            <a:ext cx="3911054" cy="721370"/>
          </a:xfrm>
          <a:prstGeom prst="roundRect">
            <a:avLst>
              <a:gd name="adj" fmla="val 2810"/>
            </a:avLst>
          </a:prstGeom>
          <a:solidFill>
            <a:srgbClr val="FCF2B5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180" y="2464519"/>
            <a:ext cx="168846" cy="13506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35087" y="2412727"/>
            <a:ext cx="3337024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Brute-force comparison grows quadratically — impractical at any meaningful scale.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41590" y="1145084"/>
            <a:ext cx="3911054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Proposed Multi-Stage Pipeline</a:t>
            </a:r>
            <a:endParaRPr lang="en-US" sz="13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1590" y="1501080"/>
            <a:ext cx="675605" cy="103219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45931" y="1636142"/>
            <a:ext cx="310671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Stage 1 — Filter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5545931" y="1975991"/>
            <a:ext cx="310671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Fast digital fingerprints eliminate non-matches instantly.</a:t>
            </a:r>
            <a:endParaRPr lang="en-US" sz="10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1590" y="2533278"/>
            <a:ext cx="675605" cy="1032197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545931" y="2668339"/>
            <a:ext cx="310671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Stage 2 — Index</a:t>
            </a:r>
            <a:endParaRPr lang="en-US" sz="1300" dirty="0"/>
          </a:p>
        </p:txBody>
      </p:sp>
      <p:sp>
        <p:nvSpPr>
          <p:cNvPr id="14" name="Text 9"/>
          <p:cNvSpPr/>
          <p:nvPr/>
        </p:nvSpPr>
        <p:spPr>
          <a:xfrm>
            <a:off x="5545931" y="3008188"/>
            <a:ext cx="310671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Locates long matching phrases across candidate files.</a:t>
            </a:r>
            <a:endParaRPr lang="en-US" sz="10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41590" y="3565475"/>
            <a:ext cx="675605" cy="103219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5545931" y="3700537"/>
            <a:ext cx="3106713" cy="2111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Stage 3 — Score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5545931" y="4040386"/>
            <a:ext cx="3106713" cy="422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0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Calculates precise edit-based similarity percentages only for likely duplicates.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9855"/>
            <a:ext cx="815176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0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Architecture &amp; Data Pipeline</a:t>
            </a:r>
            <a:endParaRPr lang="en-US" sz="20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679" y="881583"/>
            <a:ext cx="8084567" cy="348622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73714" y="3706689"/>
            <a:ext cx="1885686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Comparison Engine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1073714" y="2899685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Indexing Engine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1073714" y="2100832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Fingerprinting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73714" y="1293827"/>
            <a:ext cx="1834102" cy="229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Input Layer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96119" y="4457477"/>
            <a:ext cx="8151763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8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stage of the pipeline progressively narrows the candidate pool — ensuring deep analysis is only performed where it matters most, maximizing both speed and accuracy.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6119" y="1257598"/>
            <a:ext cx="2628230" cy="262823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988" y="903908"/>
            <a:ext cx="1900461" cy="215354"/>
          </a:xfrm>
          <a:prstGeom prst="roundRect">
            <a:avLst>
              <a:gd name="adj" fmla="val 7900"/>
            </a:avLst>
          </a:prstGeom>
          <a:solidFill>
            <a:srgbClr val="D7D6F5"/>
          </a:solidFill>
          <a:ln/>
        </p:spPr>
      </p:sp>
      <p:sp>
        <p:nvSpPr>
          <p:cNvPr id="4" name="Text 1"/>
          <p:cNvSpPr/>
          <p:nvPr/>
        </p:nvSpPr>
        <p:spPr>
          <a:xfrm>
            <a:off x="3560043" y="946398"/>
            <a:ext cx="2187550" cy="1303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8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1 — QUICK SCREENING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3474988" y="1175965"/>
            <a:ext cx="5177582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Fingerprinting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3474988" y="1675656"/>
            <a:ext cx="517758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Algorithm: Rabin-Karp Rolling Hash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3474988" y="2038871"/>
            <a:ext cx="5177582" cy="1261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000"/>
              </a:spcAft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Splits text into short </a:t>
            </a: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sliding windows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converts them into unique numerical keys. As the window slides character by character, the hash updates in constant time — no full recomputation needed.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Role in Pipeline:</a:t>
            </a: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Acts as a super-fast initial scanner that discards totally unrelated documents before any deep analysis begins.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474988" y="3459956"/>
            <a:ext cx="5177582" cy="779562"/>
          </a:xfrm>
          <a:prstGeom prst="roundRect">
            <a:avLst>
              <a:gd name="adj" fmla="val 2728"/>
            </a:avLst>
          </a:prstGeom>
          <a:solidFill>
            <a:srgbClr val="D7D6F5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6747" y="3679775"/>
            <a:ext cx="177180" cy="14175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935685" y="3622923"/>
            <a:ext cx="4575125" cy="4536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Hash collisions are rare by design — only genuine candidate pairs advance to the next stage.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389855"/>
            <a:ext cx="1206698" cy="107603"/>
          </a:xfrm>
          <a:prstGeom prst="roundRect">
            <a:avLst>
              <a:gd name="adj" fmla="val 7905"/>
            </a:avLst>
          </a:prstGeom>
          <a:solidFill>
            <a:srgbClr val="D7D6F5"/>
          </a:solidFill>
          <a:ln/>
        </p:spPr>
      </p:sp>
      <p:sp>
        <p:nvSpPr>
          <p:cNvPr id="3" name="Text 1"/>
          <p:cNvSpPr/>
          <p:nvPr/>
        </p:nvSpPr>
        <p:spPr>
          <a:xfrm>
            <a:off x="538609" y="411063"/>
            <a:ext cx="1578918" cy="651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4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2 — SHARED PATTERN INDEXING</a:t>
            </a:r>
            <a:endParaRPr lang="en-US" sz="400" dirty="0"/>
          </a:p>
        </p:txBody>
      </p:sp>
      <p:sp>
        <p:nvSpPr>
          <p:cNvPr id="4" name="Text 2"/>
          <p:cNvSpPr/>
          <p:nvPr/>
        </p:nvSpPr>
        <p:spPr>
          <a:xfrm>
            <a:off x="496119" y="511597"/>
            <a:ext cx="815176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Suffix Array &amp; Kasai LCP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496119" y="2592139"/>
            <a:ext cx="3989412" cy="4571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spcAft>
                <a:spcPts val="250"/>
              </a:spcAft>
              <a:buNone/>
            </a:pP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All text suffixes are sorted into an </a:t>
            </a:r>
            <a:r>
              <a:rPr lang="en-US" sz="5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alphabetically ordered index</a:t>
            </a: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. The Kasai algorithm then computes the </a:t>
            </a:r>
            <a:r>
              <a:rPr lang="en-US" sz="5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Longest Common Prefix (LCP)</a:t>
            </a: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between adjacent entries in linear time, revealing exactly where shared phrases begin and how long they extend.</a:t>
            </a:r>
            <a:endParaRPr lang="en-US" sz="550" dirty="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55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Role in Pipeline:</a:t>
            </a:r>
            <a:r>
              <a:rPr lang="en-US" sz="55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Instantly pinpoints identical sentences or paragraphs scattered across different files — without scanning every character pair.</a:t>
            </a:r>
            <a:endParaRPr lang="en-US" sz="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232" y="825996"/>
            <a:ext cx="3989412" cy="398941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2522" y="362471"/>
            <a:ext cx="3313881" cy="441855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96119" y="427658"/>
            <a:ext cx="1935510" cy="174947"/>
          </a:xfrm>
          <a:prstGeom prst="roundRect">
            <a:avLst>
              <a:gd name="adj" fmla="val 7901"/>
            </a:avLst>
          </a:prstGeom>
          <a:solidFill>
            <a:srgbClr val="D7D6F5"/>
          </a:solidFill>
          <a:ln/>
        </p:spPr>
      </p:sp>
      <p:sp>
        <p:nvSpPr>
          <p:cNvPr id="5" name="Text 2"/>
          <p:cNvSpPr/>
          <p:nvPr/>
        </p:nvSpPr>
        <p:spPr>
          <a:xfrm>
            <a:off x="565175" y="462186"/>
            <a:ext cx="2254597" cy="1058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6000"/>
              </a:lnSpc>
              <a:buNone/>
            </a:pPr>
            <a:r>
              <a:rPr lang="en-US" sz="7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MODULE 3 — EXACT SIMILARITY SCORING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496119" y="640035"/>
            <a:ext cx="4722763" cy="3599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Levenshtein Edit Distance</a:t>
            </a:r>
            <a:endParaRPr lang="en-US" sz="2250" dirty="0"/>
          </a:p>
        </p:txBody>
      </p:sp>
      <p:sp>
        <p:nvSpPr>
          <p:cNvPr id="7" name="Text 4"/>
          <p:cNvSpPr/>
          <p:nvPr/>
        </p:nvSpPr>
        <p:spPr>
          <a:xfrm>
            <a:off x="496119" y="1233860"/>
            <a:ext cx="2220888" cy="3598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Algorithm: Levenshtein Edit Distance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96119" y="1687264"/>
            <a:ext cx="2220888" cy="1754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spcAft>
                <a:spcPts val="650"/>
              </a:spcAft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Runs </a:t>
            </a:r>
            <a:r>
              <a:rPr lang="en-US" sz="9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dynamic programming</a:t>
            </a: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to count the exact number of </a:t>
            </a:r>
            <a:r>
              <a:rPr lang="en-US" sz="9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insertions, deletions, and substitutions</a:t>
            </a: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required to transform one candidate text into another.</a:t>
            </a:r>
            <a:endParaRPr lang="en-US" sz="900" dirty="0"/>
          </a:p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result is normalized into a final similarity percentage — giving a precise, interpretable score even when documents have been reworded or lightly modified.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3002756" y="1245543"/>
            <a:ext cx="2220888" cy="670694"/>
          </a:xfrm>
          <a:prstGeom prst="roundRect">
            <a:avLst>
              <a:gd name="adj" fmla="val 2576"/>
            </a:avLst>
          </a:prstGeom>
          <a:solidFill>
            <a:srgbClr val="EAE8F3"/>
          </a:solidFill>
          <a:ln/>
        </p:spPr>
      </p:sp>
      <p:sp>
        <p:nvSpPr>
          <p:cNvPr id="10" name="Text 7"/>
          <p:cNvSpPr/>
          <p:nvPr/>
        </p:nvSpPr>
        <p:spPr>
          <a:xfrm>
            <a:off x="3117875" y="1360661"/>
            <a:ext cx="199065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Insertions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117875" y="1634133"/>
            <a:ext cx="1990651" cy="1669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Characters added to one document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3002756" y="2009775"/>
            <a:ext cx="2220888" cy="837679"/>
          </a:xfrm>
          <a:prstGeom prst="roundRect">
            <a:avLst>
              <a:gd name="adj" fmla="val 2063"/>
            </a:avLst>
          </a:prstGeom>
          <a:solidFill>
            <a:srgbClr val="EAE8F3"/>
          </a:solidFill>
          <a:ln/>
        </p:spPr>
      </p:sp>
      <p:sp>
        <p:nvSpPr>
          <p:cNvPr id="13" name="Text 10"/>
          <p:cNvSpPr/>
          <p:nvPr/>
        </p:nvSpPr>
        <p:spPr>
          <a:xfrm>
            <a:off x="3117875" y="2124894"/>
            <a:ext cx="199065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Deletions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3117875" y="2398365"/>
            <a:ext cx="199065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Characters removed from one document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3002756" y="2940993"/>
            <a:ext cx="2220888" cy="837679"/>
          </a:xfrm>
          <a:prstGeom prst="roundRect">
            <a:avLst>
              <a:gd name="adj" fmla="val 2063"/>
            </a:avLst>
          </a:prstGeom>
          <a:solidFill>
            <a:srgbClr val="EAE8F3"/>
          </a:solidFill>
          <a:ln/>
        </p:spPr>
      </p:sp>
      <p:sp>
        <p:nvSpPr>
          <p:cNvPr id="16" name="Text 13"/>
          <p:cNvSpPr/>
          <p:nvPr/>
        </p:nvSpPr>
        <p:spPr>
          <a:xfrm>
            <a:off x="3117875" y="3056111"/>
            <a:ext cx="1990651" cy="179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Substitutions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3117875" y="3329583"/>
            <a:ext cx="1990651" cy="3339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Characters swapped between documents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3002756" y="3883893"/>
            <a:ext cx="2220888" cy="726728"/>
          </a:xfrm>
          <a:prstGeom prst="roundRect">
            <a:avLst>
              <a:gd name="adj" fmla="val 2377"/>
            </a:avLst>
          </a:prstGeom>
          <a:solidFill>
            <a:srgbClr val="D7D6F5"/>
          </a:solidFill>
          <a:ln/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875" y="4033986"/>
            <a:ext cx="143917" cy="11511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3376910" y="3996779"/>
            <a:ext cx="1731615" cy="5009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Only applied to candidate pairs that passed Stages 1 &amp; 2 — keeping computation efficient.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715000" y="0"/>
            <a:ext cx="3429000" cy="5143500"/>
          </a:xfrm>
          <a:prstGeom prst="rect">
            <a:avLst/>
          </a:prstGeom>
          <a:solidFill>
            <a:srgbClr val="EAE8F3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5842" y="380181"/>
            <a:ext cx="3287241" cy="438306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96119" y="1823963"/>
            <a:ext cx="4722763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2750" dirty="0">
                <a:solidFill>
                  <a:srgbClr val="403CCF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Thank You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496119" y="2479551"/>
            <a:ext cx="4722763" cy="839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b="1" dirty="0">
                <a:solidFill>
                  <a:srgbClr val="49495A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Near Duplicate Document Detection Framework</a:t>
            </a:r>
            <a:endParaRPr lang="en-US" sz="1100" dirty="0"/>
          </a:p>
          <a:p>
            <a:pPr marL="0" indent="0" algn="ctr">
              <a:lnSpc>
                <a:spcPct val="133000"/>
              </a:lnSpc>
              <a:buNone/>
            </a:pPr>
            <a:r>
              <a:rPr lang="en-US" sz="1100" dirty="0">
                <a:solidFill>
                  <a:srgbClr val="49495A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M. Aravindhar Reddy  ·  Ganapuram Veeravardhan  ·  K. Manikanta Reddy  ·  Irfan Faraj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545</Words>
  <Application>Microsoft Office PowerPoint</Application>
  <PresentationFormat>On-screen Show (16:9)</PresentationFormat>
  <Paragraphs>68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Libre Baskerville</vt:lpstr>
      <vt:lpstr>Arial</vt:lpstr>
      <vt:lpstr>Open Sans Bold</vt:lpstr>
      <vt:lpstr>Open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G.veeravardhan</dc:creator>
  <cp:lastModifiedBy>Ganapuram Veeravardhan</cp:lastModifiedBy>
  <cp:revision>1</cp:revision>
  <dcterms:created xsi:type="dcterms:W3CDTF">2026-08-18T07:45:53Z</dcterms:created>
  <dcterms:modified xsi:type="dcterms:W3CDTF">2026-09-23T07:50:20Z</dcterms:modified>
</cp:coreProperties>
</file>